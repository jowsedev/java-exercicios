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</p:sldMasterIdLst>
  <p:notesMasterIdLst>
    <p:notesMasterId r:id="rId23"/>
  </p:notesMasterIdLst>
  <p:sldIdLst>
    <p:sldId id="256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7" r:id="rId17"/>
    <p:sldId id="282" r:id="rId18"/>
    <p:sldId id="283" r:id="rId19"/>
    <p:sldId id="284" r:id="rId20"/>
    <p:sldId id="285" r:id="rId21"/>
    <p:sldId id="286" r:id="rId22"/>
  </p:sldIdLst>
  <p:sldSz cx="10080625" cy="5670550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7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77875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437" y="4861354"/>
            <a:ext cx="5683156" cy="460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82958" cy="511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021072" y="0"/>
            <a:ext cx="3082958" cy="511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3052"/>
            <a:ext cx="3082958" cy="511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072" y="9723052"/>
            <a:ext cx="3082958" cy="511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pt-BR" sz="1300" smtClean="0"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‹nº›</a:t>
            </a:fld>
            <a:endParaRPr lang="pt-BR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ddb4bf2b8b_2_54:notes"/>
          <p:cNvSpPr txBox="1">
            <a:spLocks noGrp="1"/>
          </p:cNvSpPr>
          <p:nvPr>
            <p:ph type="body" idx="1"/>
          </p:nvPr>
        </p:nvSpPr>
        <p:spPr>
          <a:xfrm>
            <a:off x="710390" y="4861430"/>
            <a:ext cx="5683236" cy="460556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7" name="Google Shape;97;g1ddb4bf2b8b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x">
  <p:cSld name="TITLE_AND_BOD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subTitle" idx="1"/>
          </p:nvPr>
        </p:nvSpPr>
        <p:spPr>
          <a:xfrm>
            <a:off x="108000" y="4661950"/>
            <a:ext cx="98640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504000" y="2537640"/>
            <a:ext cx="9071700" cy="17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" type="obj">
  <p:cSld name="OBJEC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784440" y="72000"/>
            <a:ext cx="9268920" cy="5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108000" y="880560"/>
            <a:ext cx="9864000" cy="448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ldNum" idx="12"/>
          </p:nvPr>
        </p:nvSpPr>
        <p:spPr>
          <a:xfrm>
            <a:off x="9757230" y="5236575"/>
            <a:ext cx="280800" cy="43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0" y="8280"/>
            <a:ext cx="10065240" cy="56617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504000" y="2537640"/>
            <a:ext cx="9071640" cy="17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 u="none" strike="noStrike" cap="none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lang="pt-BR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Nome do curso</a:t>
            </a:r>
            <a:br>
              <a:rPr lang="pt-BR" sz="3200" b="0" strike="noStrike" dirty="0">
                <a:latin typeface="Arial"/>
                <a:ea typeface="Arial"/>
                <a:cs typeface="Arial"/>
                <a:sym typeface="Arial"/>
              </a:rPr>
            </a:br>
            <a:br>
              <a:rPr lang="pt-BR" sz="3200" b="0" strike="noStrike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3200" b="0" strike="noStrike" dirty="0">
                <a:latin typeface="Arial"/>
                <a:ea typeface="Arial"/>
                <a:cs typeface="Arial"/>
                <a:sym typeface="Arial"/>
              </a:rPr>
              <a:t>Nome da disciplina</a:t>
            </a:r>
            <a:endParaRPr dirty="0"/>
          </a:p>
        </p:txBody>
      </p:sp>
      <p:sp>
        <p:nvSpPr>
          <p:cNvPr id="79" name="Google Shape;79;p14"/>
          <p:cNvSpPr txBox="1"/>
          <p:nvPr/>
        </p:nvSpPr>
        <p:spPr>
          <a:xfrm>
            <a:off x="100440" y="5346360"/>
            <a:ext cx="4101840" cy="31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 dirty="0">
                <a:latin typeface="Arial"/>
                <a:ea typeface="Arial"/>
                <a:cs typeface="Arial"/>
                <a:sym typeface="Arial"/>
              </a:rPr>
              <a:t>André Luis Gobbi Primo / Ivan Oliveira Lopes</a:t>
            </a: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114907" y="5337000"/>
            <a:ext cx="6844494" cy="3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 dirty="0">
                <a:latin typeface="Arial"/>
                <a:ea typeface="Arial"/>
                <a:cs typeface="Arial"/>
                <a:sym typeface="Arial"/>
              </a:rPr>
              <a:t>andre.gobbi@ifsp.edu.br / io.lopes@ifsp.edu.br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1" i="1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" y="0"/>
            <a:ext cx="10069200" cy="56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784440" y="72000"/>
            <a:ext cx="9268920" cy="5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 i="0" u="none" strike="noStrike" cap="none"/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 i="0" u="none" strike="noStrike" cap="none"/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 i="0" u="none" strike="noStrike" cap="none"/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 i="0" u="none" strike="noStrike" cap="none"/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 i="0" u="none" strike="noStrike" cap="none"/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 i="0" u="none" strike="noStrike" cap="none"/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 i="0" u="none" strike="noStrike" cap="none"/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 i="0" u="none" strike="noStrike" cap="none"/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 i="0" u="none" strike="noStrike" cap="none"/>
            </a:lvl9pPr>
          </a:lstStyle>
          <a:p>
            <a:endParaRPr dirty="0"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108000" y="880560"/>
            <a:ext cx="9864000" cy="448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600"/>
              <a:buNone/>
              <a:defRPr sz="20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/>
            </a:lvl9pPr>
          </a:lstStyle>
          <a:p>
            <a:endParaRPr dirty="0"/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9793440" y="5328000"/>
            <a:ext cx="20232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89" name="Google Shape;89;p16"/>
          <p:cNvSpPr txBox="1"/>
          <p:nvPr/>
        </p:nvSpPr>
        <p:spPr>
          <a:xfrm>
            <a:off x="30239" y="5457600"/>
            <a:ext cx="2742697" cy="238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strike="noStrike" dirty="0">
                <a:latin typeface="Arial"/>
                <a:ea typeface="Arial"/>
                <a:cs typeface="Arial"/>
                <a:sym typeface="Arial"/>
              </a:rPr>
              <a:t>Linguagem de Programação 1</a:t>
            </a:r>
            <a:endParaRPr sz="105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4638907" y="610920"/>
            <a:ext cx="5446493" cy="24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i="1" strike="noStrike">
                <a:latin typeface="Arial"/>
                <a:ea typeface="Arial"/>
                <a:cs typeface="Arial"/>
                <a:sym typeface="Arial"/>
              </a:rPr>
              <a:t>Bacharel em Sistemas de Informação</a:t>
            </a:r>
            <a:endParaRPr sz="11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504000" y="2537640"/>
            <a:ext cx="9071640" cy="17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500" b="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504000" y="4585320"/>
            <a:ext cx="9071640" cy="45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504000" y="2537640"/>
            <a:ext cx="9071700" cy="17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bg1"/>
                </a:solidFill>
              </a:rPr>
              <a:t>Bacharel em Sistemas de Informação</a:t>
            </a:r>
            <a:br>
              <a:rPr lang="pt-BR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Linguagem de Programação 1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7A0431-D45B-2132-86CB-6E3C3A5387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82F990C-E8F4-6E71-A627-FECC940B4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986" y="2835275"/>
            <a:ext cx="3886651" cy="2693239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1624E0B5-3160-DB91-2B8F-EC89521120F2}"/>
              </a:ext>
            </a:extLst>
          </p:cNvPr>
          <p:cNvCxnSpPr>
            <a:cxnSpLocks/>
          </p:cNvCxnSpPr>
          <p:nvPr/>
        </p:nvCxnSpPr>
        <p:spPr bwMode="auto">
          <a:xfrm flipH="1">
            <a:off x="6936812" y="2938072"/>
            <a:ext cx="670696" cy="455279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74F1FEE4-248C-BBB3-4247-8218BC3C5F7A}"/>
              </a:ext>
            </a:extLst>
          </p:cNvPr>
          <p:cNvCxnSpPr>
            <a:cxnSpLocks/>
          </p:cNvCxnSpPr>
          <p:nvPr/>
        </p:nvCxnSpPr>
        <p:spPr bwMode="auto">
          <a:xfrm flipH="1">
            <a:off x="5376554" y="4576268"/>
            <a:ext cx="664482" cy="735903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/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o Projeto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dirty="0">
                <a:cs typeface="+mn-cs"/>
              </a:rPr>
              <a:t>Para se utilizar os conceitos do SWING é necessário que se crie um projeto Desktop “Aplicação Java” como demonstrado na imagem abaixo.</a:t>
            </a: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dirty="0">
                <a:cs typeface="+mn-cs"/>
              </a:rPr>
              <a:t>Para esta disciplina será utilizada a </a:t>
            </a:r>
            <a:r>
              <a:rPr kumimoji="1" lang="pt-BR" altLang="pt-BR">
                <a:cs typeface="+mn-cs"/>
              </a:rPr>
              <a:t>IDE NetBeans </a:t>
            </a:r>
            <a:r>
              <a:rPr kumimoji="1" lang="pt-BR" altLang="pt-BR" dirty="0">
                <a:cs typeface="+mn-cs"/>
              </a:rPr>
              <a:t>na Versão Apache NetBeans </a:t>
            </a:r>
            <a:r>
              <a:rPr kumimoji="1" lang="pt-BR" altLang="pt-BR">
                <a:cs typeface="+mn-cs"/>
              </a:rPr>
              <a:t>IDE 8.2 ou 12.2 </a:t>
            </a:r>
            <a:r>
              <a:rPr kumimoji="1" lang="pt-BR" altLang="pt-BR" dirty="0">
                <a:cs typeface="+mn-cs"/>
              </a:rPr>
              <a:t>com o plugins Java SE instalado.</a:t>
            </a:r>
          </a:p>
          <a:p>
            <a:pPr marL="914400" lvl="2" indent="0" algn="just">
              <a:buSzPct val="100000"/>
              <a:defRPr/>
            </a:pPr>
            <a:endParaRPr kumimoji="1" lang="pt-BR" altLang="pt-BR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6546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/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o Projeto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31779D9-8045-44AA-CAC7-901AA857F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92" y="1476877"/>
            <a:ext cx="5617319" cy="3887123"/>
          </a:xfrm>
          <a:prstGeom prst="rect">
            <a:avLst/>
          </a:prstGeom>
        </p:spPr>
      </p:pic>
      <p:sp>
        <p:nvSpPr>
          <p:cNvPr id="9" name="Texto Explicativo: Linha 8">
            <a:extLst>
              <a:ext uri="{FF2B5EF4-FFF2-40B4-BE49-F238E27FC236}">
                <a16:creationId xmlns:a16="http://schemas.microsoft.com/office/drawing/2014/main" id="{983AEB76-61C4-8B65-259D-784E9A92F9C1}"/>
              </a:ext>
            </a:extLst>
          </p:cNvPr>
          <p:cNvSpPr/>
          <p:nvPr/>
        </p:nvSpPr>
        <p:spPr bwMode="auto">
          <a:xfrm>
            <a:off x="7612659" y="1769323"/>
            <a:ext cx="1584176" cy="720080"/>
          </a:xfrm>
          <a:prstGeom prst="borderCallout1">
            <a:avLst>
              <a:gd name="adj1" fmla="val 18750"/>
              <a:gd name="adj2" fmla="val -8333"/>
              <a:gd name="adj3" fmla="val 46077"/>
              <a:gd name="adj4" fmla="val -132463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Colocar o nome do projeto</a:t>
            </a: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o Explicativo: Linha 9">
            <a:extLst>
              <a:ext uri="{FF2B5EF4-FFF2-40B4-BE49-F238E27FC236}">
                <a16:creationId xmlns:a16="http://schemas.microsoft.com/office/drawing/2014/main" id="{C701340B-4AB5-AAD9-286E-DC0497CD4479}"/>
              </a:ext>
            </a:extLst>
          </p:cNvPr>
          <p:cNvSpPr/>
          <p:nvPr/>
        </p:nvSpPr>
        <p:spPr bwMode="auto">
          <a:xfrm>
            <a:off x="7612659" y="2700358"/>
            <a:ext cx="1584176" cy="720080"/>
          </a:xfrm>
          <a:prstGeom prst="borderCallout1">
            <a:avLst>
              <a:gd name="adj1" fmla="val 18750"/>
              <a:gd name="adj2" fmla="val -8333"/>
              <a:gd name="adj3" fmla="val -47697"/>
              <a:gd name="adj4" fmla="val -92502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Selecionar o local de salvamento</a:t>
            </a: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o Explicativo: Linha 10">
            <a:extLst>
              <a:ext uri="{FF2B5EF4-FFF2-40B4-BE49-F238E27FC236}">
                <a16:creationId xmlns:a16="http://schemas.microsoft.com/office/drawing/2014/main" id="{7F171ACB-107C-011C-4379-DCA011D733F5}"/>
              </a:ext>
            </a:extLst>
          </p:cNvPr>
          <p:cNvSpPr/>
          <p:nvPr/>
        </p:nvSpPr>
        <p:spPr bwMode="auto">
          <a:xfrm>
            <a:off x="7612659" y="3631393"/>
            <a:ext cx="1584176" cy="720080"/>
          </a:xfrm>
          <a:prstGeom prst="borderCallout1">
            <a:avLst>
              <a:gd name="adj1" fmla="val 18750"/>
              <a:gd name="adj2" fmla="val -8333"/>
              <a:gd name="adj3" fmla="val 34355"/>
              <a:gd name="adj4" fmla="val -89838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Deixar essa opção desmarcada</a:t>
            </a: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o Explicativo: Linha 11">
            <a:extLst>
              <a:ext uri="{FF2B5EF4-FFF2-40B4-BE49-F238E27FC236}">
                <a16:creationId xmlns:a16="http://schemas.microsoft.com/office/drawing/2014/main" id="{1EFFAD62-5313-9832-65B5-444A96CABDD2}"/>
              </a:ext>
            </a:extLst>
          </p:cNvPr>
          <p:cNvSpPr/>
          <p:nvPr/>
        </p:nvSpPr>
        <p:spPr bwMode="auto">
          <a:xfrm>
            <a:off x="7631517" y="4562428"/>
            <a:ext cx="1584176" cy="298825"/>
          </a:xfrm>
          <a:prstGeom prst="borderCallout1">
            <a:avLst>
              <a:gd name="adj1" fmla="val 18750"/>
              <a:gd name="adj2" fmla="val -8333"/>
              <a:gd name="adj3" fmla="val 206043"/>
              <a:gd name="adj4" fmla="val -178640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Finalizar</a:t>
            </a: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831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/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Os formulário simples são do tipo </a:t>
            </a:r>
            <a:r>
              <a:rPr kumimoji="1" lang="pt-BR" altLang="pt-BR" sz="2000" dirty="0" err="1">
                <a:solidFill>
                  <a:schemeClr val="tx1"/>
                </a:solidFill>
                <a:cs typeface="+mn-cs"/>
              </a:rPr>
              <a:t>JFrame</a:t>
            </a: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 são chamados pelo sistema de forma individualizada.</a:t>
            </a: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Para criar esse tipo de formulário deve-se inserir uma classe do tipo </a:t>
            </a:r>
            <a:r>
              <a:rPr kumimoji="1" lang="pt-BR" altLang="pt-BR" sz="2000" dirty="0" err="1">
                <a:solidFill>
                  <a:schemeClr val="tx1"/>
                </a:solidFill>
                <a:cs typeface="+mn-cs"/>
              </a:rPr>
              <a:t>JFrame</a:t>
            </a: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.</a:t>
            </a: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3619C4-0D11-9E38-3AFA-B0CF6705E7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150" b="39504"/>
          <a:stretch/>
        </p:blipFill>
        <p:spPr>
          <a:xfrm>
            <a:off x="2898328" y="2642341"/>
            <a:ext cx="4283968" cy="2956209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C8567C1-8716-EF7D-725D-5231F29BC3F2}"/>
              </a:ext>
            </a:extLst>
          </p:cNvPr>
          <p:cNvCxnSpPr/>
          <p:nvPr/>
        </p:nvCxnSpPr>
        <p:spPr bwMode="auto">
          <a:xfrm flipH="1">
            <a:off x="6030168" y="4307491"/>
            <a:ext cx="1152128" cy="116588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5637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/>
          <a:lstStyle/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447265B-4011-8DBC-7687-AA8F85E74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957" y="1452238"/>
            <a:ext cx="5552484" cy="3932050"/>
          </a:xfrm>
          <a:prstGeom prst="rect">
            <a:avLst/>
          </a:prstGeom>
        </p:spPr>
      </p:pic>
      <p:sp>
        <p:nvSpPr>
          <p:cNvPr id="8" name="Texto Explicativo: Linha 7">
            <a:extLst>
              <a:ext uri="{FF2B5EF4-FFF2-40B4-BE49-F238E27FC236}">
                <a16:creationId xmlns:a16="http://schemas.microsoft.com/office/drawing/2014/main" id="{50F6B726-11DF-49D6-3349-E27E0FF78269}"/>
              </a:ext>
            </a:extLst>
          </p:cNvPr>
          <p:cNvSpPr/>
          <p:nvPr/>
        </p:nvSpPr>
        <p:spPr bwMode="auto">
          <a:xfrm>
            <a:off x="7695106" y="1795074"/>
            <a:ext cx="1584176" cy="720080"/>
          </a:xfrm>
          <a:prstGeom prst="borderCallout1">
            <a:avLst>
              <a:gd name="adj1" fmla="val 18750"/>
              <a:gd name="adj2" fmla="val -8333"/>
              <a:gd name="adj3" fmla="val 46077"/>
              <a:gd name="adj4" fmla="val -132463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Colocar o nome da classe</a:t>
            </a: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o Explicativo: Linha 8">
            <a:extLst>
              <a:ext uri="{FF2B5EF4-FFF2-40B4-BE49-F238E27FC236}">
                <a16:creationId xmlns:a16="http://schemas.microsoft.com/office/drawing/2014/main" id="{42A6E6BB-52BF-B7F9-C0ED-B46920B5D86E}"/>
              </a:ext>
            </a:extLst>
          </p:cNvPr>
          <p:cNvSpPr/>
          <p:nvPr/>
        </p:nvSpPr>
        <p:spPr bwMode="auto">
          <a:xfrm>
            <a:off x="7425548" y="4576268"/>
            <a:ext cx="1584176" cy="720080"/>
          </a:xfrm>
          <a:prstGeom prst="borderCallout1">
            <a:avLst>
              <a:gd name="adj1" fmla="val 18750"/>
              <a:gd name="adj2" fmla="val -8333"/>
              <a:gd name="adj3" fmla="val 69265"/>
              <a:gd name="adj4" fmla="val -129733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Finalizar</a:t>
            </a: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91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/>
          <a:lstStyle/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207B78-398A-F6B9-278A-E84A61311D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469" b="24978"/>
          <a:stretch/>
        </p:blipFill>
        <p:spPr>
          <a:xfrm>
            <a:off x="3223896" y="1570558"/>
            <a:ext cx="3889006" cy="366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3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/>
          <a:lstStyle/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2000">
                <a:solidFill>
                  <a:schemeClr val="tx1"/>
                </a:solidFill>
                <a:cs typeface="+mn-cs"/>
              </a:rPr>
              <a:t>Principais </a:t>
            </a: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componentes para trabalhar com formulários.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F1D7221-AF05-0AC4-0D9D-7F9405040D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562" t="10214" b="16108"/>
          <a:stretch/>
        </p:blipFill>
        <p:spPr>
          <a:xfrm>
            <a:off x="1680337" y="1860366"/>
            <a:ext cx="2040411" cy="3580554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BF5F9F0-2D90-F278-7EE6-6126A2390638}"/>
              </a:ext>
            </a:extLst>
          </p:cNvPr>
          <p:cNvCxnSpPr/>
          <p:nvPr/>
        </p:nvCxnSpPr>
        <p:spPr bwMode="auto">
          <a:xfrm>
            <a:off x="641960" y="2326947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BBF4E5-E896-F67D-947A-628BC0841CE6}"/>
              </a:ext>
            </a:extLst>
          </p:cNvPr>
          <p:cNvCxnSpPr/>
          <p:nvPr/>
        </p:nvCxnSpPr>
        <p:spPr bwMode="auto">
          <a:xfrm>
            <a:off x="656255" y="3626313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FC03A89E-7398-CA62-6287-926897217356}"/>
              </a:ext>
            </a:extLst>
          </p:cNvPr>
          <p:cNvCxnSpPr/>
          <p:nvPr/>
        </p:nvCxnSpPr>
        <p:spPr bwMode="auto">
          <a:xfrm>
            <a:off x="656950" y="3800133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657A751-66B8-F672-442F-621CF21EE119}"/>
              </a:ext>
            </a:extLst>
          </p:cNvPr>
          <p:cNvCxnSpPr/>
          <p:nvPr/>
        </p:nvCxnSpPr>
        <p:spPr bwMode="auto">
          <a:xfrm>
            <a:off x="656950" y="4084477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F15465F-D6CB-6A00-C1B4-0E53DD0BB615}"/>
              </a:ext>
            </a:extLst>
          </p:cNvPr>
          <p:cNvCxnSpPr/>
          <p:nvPr/>
        </p:nvCxnSpPr>
        <p:spPr bwMode="auto">
          <a:xfrm>
            <a:off x="656950" y="4286433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01CFC5B9-3845-F532-A055-0D5AB550D74A}"/>
              </a:ext>
            </a:extLst>
          </p:cNvPr>
          <p:cNvCxnSpPr/>
          <p:nvPr/>
        </p:nvCxnSpPr>
        <p:spPr bwMode="auto">
          <a:xfrm>
            <a:off x="656950" y="4438833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F117C09-C458-E89D-85A1-43293241721A}"/>
              </a:ext>
            </a:extLst>
          </p:cNvPr>
          <p:cNvCxnSpPr/>
          <p:nvPr/>
        </p:nvCxnSpPr>
        <p:spPr bwMode="auto">
          <a:xfrm>
            <a:off x="656950" y="4591233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E35627A-545C-EFD3-60F8-AE700995C41F}"/>
              </a:ext>
            </a:extLst>
          </p:cNvPr>
          <p:cNvCxnSpPr/>
          <p:nvPr/>
        </p:nvCxnSpPr>
        <p:spPr bwMode="auto">
          <a:xfrm>
            <a:off x="656950" y="4851138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E64B1FF-6EDA-F908-1483-7E132B1F80FE}"/>
              </a:ext>
            </a:extLst>
          </p:cNvPr>
          <p:cNvCxnSpPr/>
          <p:nvPr/>
        </p:nvCxnSpPr>
        <p:spPr bwMode="auto">
          <a:xfrm>
            <a:off x="656950" y="5053094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72EC0B29-4C17-E6D0-D5A0-D4F23629DC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350" t="11687" b="17097"/>
          <a:stretch/>
        </p:blipFill>
        <p:spPr>
          <a:xfrm>
            <a:off x="6359877" y="1860367"/>
            <a:ext cx="2089142" cy="3672408"/>
          </a:xfrm>
          <a:prstGeom prst="rect">
            <a:avLst/>
          </a:prstGeom>
        </p:spPr>
      </p:pic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5DDBE7A8-5FB1-1B4F-C937-0FC8824C36F6}"/>
              </a:ext>
            </a:extLst>
          </p:cNvPr>
          <p:cNvCxnSpPr/>
          <p:nvPr/>
        </p:nvCxnSpPr>
        <p:spPr bwMode="auto">
          <a:xfrm>
            <a:off x="5207054" y="2562514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5E3E6E3D-0D88-5FF3-232A-709E7F81D29D}"/>
              </a:ext>
            </a:extLst>
          </p:cNvPr>
          <p:cNvCxnSpPr/>
          <p:nvPr/>
        </p:nvCxnSpPr>
        <p:spPr bwMode="auto">
          <a:xfrm>
            <a:off x="5207749" y="3694690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92DBA2B-E224-CAAA-08E2-BE79779872CD}"/>
              </a:ext>
            </a:extLst>
          </p:cNvPr>
          <p:cNvCxnSpPr/>
          <p:nvPr/>
        </p:nvCxnSpPr>
        <p:spPr bwMode="auto">
          <a:xfrm>
            <a:off x="5207749" y="3944325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CA8D3AB9-ED31-05A5-CBF0-9BA0B513839C}"/>
              </a:ext>
            </a:extLst>
          </p:cNvPr>
          <p:cNvCxnSpPr/>
          <p:nvPr/>
        </p:nvCxnSpPr>
        <p:spPr bwMode="auto">
          <a:xfrm>
            <a:off x="5207749" y="4146281"/>
            <a:ext cx="1152823" cy="0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3956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 lnSpcReduction="10000"/>
          </a:bodyPr>
          <a:lstStyle/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Para colocar os componentes dentro do formulário é necessário clicar sobre o componente e arrastar o mesmo para dentro do formulário, construindo assim a sua “Tela”. 		</a:t>
            </a: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solidFill>
                <a:schemeClr val="tx1"/>
              </a:solidFill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Vamos construir um formulário para receber os dados necessários para trabalhar com o exemplo apresentado na aula de MVC. Você deve aproveitar as classe DTO, DAO e CTR do exemplo. Este formulário deve possuir um campo para digitar o nome, um para digitar o RG e outro para digitar a idade. Deve possuir também um botão para chamar o método “</a:t>
            </a:r>
            <a:r>
              <a:rPr kumimoji="1" lang="pt-BR" altLang="pt-BR" sz="2000" dirty="0" err="1">
                <a:solidFill>
                  <a:schemeClr val="tx1"/>
                </a:solidFill>
                <a:cs typeface="+mn-cs"/>
              </a:rPr>
              <a:t>mostrarNomeRg</a:t>
            </a: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” e outro para chamar o método “</a:t>
            </a:r>
            <a:r>
              <a:rPr kumimoji="1" lang="pt-BR" altLang="pt-BR" sz="2000" dirty="0" err="1">
                <a:solidFill>
                  <a:schemeClr val="tx1"/>
                </a:solidFill>
                <a:cs typeface="+mn-cs"/>
              </a:rPr>
              <a:t>mostrarNomeIdade</a:t>
            </a: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” enviando os dados para a classe CTR. A classe do formulário deve receber o nome de </a:t>
            </a:r>
            <a:r>
              <a:rPr kumimoji="1" lang="pt-BR" altLang="pt-BR" sz="2000" dirty="0" err="1">
                <a:solidFill>
                  <a:schemeClr val="tx1"/>
                </a:solidFill>
                <a:cs typeface="+mn-cs"/>
              </a:rPr>
              <a:t>ClienteVIEW</a:t>
            </a: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7958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2000" dirty="0">
                <a:solidFill>
                  <a:schemeClr val="tx1"/>
                </a:solidFill>
                <a:cs typeface="+mn-cs"/>
              </a:rPr>
              <a:t>Alguns componentes serão manipulados durante a execução do sistema. Um texto escrito em uma caixa de texto por exemplo deverá ser “pegado” para ser enviado junto do objeto para a classe CTR. Neste caso temos que mudar o nome padrão da caixa de texto para podermos reconhece-la dentro do código. O mesmo se aplica a um botão que deve ser identificado dentro do código para implementação dos eventos de funcionalidades. Vejamos a criação do nosso formulário e como modificar essas informações.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1947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Com o formulário criado e os componentes colocados, vamos configurar os componentes. Para verificar as configurações possíveis deve-se clicar com o botão direito do mouse sobre o componente que deseja formatar e clicar em Propriedades. Vamos formatar o </a:t>
            </a:r>
            <a:r>
              <a:rPr kumimoji="1" lang="pt-BR" altLang="pt-BR" sz="1600" dirty="0" err="1">
                <a:solidFill>
                  <a:schemeClr val="tx1"/>
                </a:solidFill>
                <a:cs typeface="+mn-cs"/>
              </a:rPr>
              <a:t>Label</a:t>
            </a: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 Cliente. Formate a fonte, alinhamento e o tamanho da letra.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5CA1E6D-AC2F-3107-D309-A8BEAE2623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108" r="66537" b="41158"/>
          <a:stretch/>
        </p:blipFill>
        <p:spPr>
          <a:xfrm>
            <a:off x="926846" y="2688505"/>
            <a:ext cx="4055654" cy="276784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2BFB2D6-B740-72CB-3FE7-03A42AE99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130" y="2596153"/>
            <a:ext cx="2572929" cy="276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18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Agora vamos apagar o texto que por padrão vem dentro da caixa de texto e também vamos trocar o nome do componente. Para cada caixa de texto clicar com o botão direito do mouse sobre a caixa e selecionar “Editar texto” e apagar o texto existente na caixa. Depois novamente em cada caixa clicar com o botão direito e selecionar “Alterar o Nome da Variável”, na caixa de diálogo que abrir colocar o nome de cada caixa. No nosso exemplo será “nome”, “</a:t>
            </a:r>
            <a:r>
              <a:rPr kumimoji="1" lang="pt-BR" altLang="pt-BR" sz="1600" dirty="0" err="1">
                <a:solidFill>
                  <a:schemeClr val="tx1"/>
                </a:solidFill>
                <a:cs typeface="+mn-cs"/>
              </a:rPr>
              <a:t>rg</a:t>
            </a: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” e “idade”.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C5F3189-19A7-5530-F61E-EB9F2BF097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999" r="74412" b="54337"/>
          <a:stretch/>
        </p:blipFill>
        <p:spPr>
          <a:xfrm>
            <a:off x="1207683" y="2979619"/>
            <a:ext cx="4307199" cy="23843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65EDF43-F2EE-B597-61A9-A190FF290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106" y="3400058"/>
            <a:ext cx="293370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32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Para formatar os botões seguir os mesmos procedimentos das caixas de texto. Os nossos botões terão os nomes de “</a:t>
            </a:r>
            <a:r>
              <a:rPr kumimoji="1" lang="pt-BR" altLang="pt-BR" sz="1600" dirty="0" err="1">
                <a:solidFill>
                  <a:schemeClr val="tx1"/>
                </a:solidFill>
                <a:cs typeface="+mn-cs"/>
              </a:rPr>
              <a:t>btnNomeRg</a:t>
            </a: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” e “</a:t>
            </a:r>
            <a:r>
              <a:rPr kumimoji="1" lang="pt-BR" altLang="pt-BR" sz="1600" dirty="0" err="1">
                <a:solidFill>
                  <a:schemeClr val="tx1"/>
                </a:solidFill>
                <a:cs typeface="+mn-cs"/>
              </a:rPr>
              <a:t>btnNomeIdade</a:t>
            </a: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”.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BE3FF06-D5C8-6C50-0248-532AFFB0D6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108" r="66537" b="41158"/>
          <a:stretch/>
        </p:blipFill>
        <p:spPr>
          <a:xfrm>
            <a:off x="1041295" y="2431470"/>
            <a:ext cx="4296960" cy="29325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D6B4311-404A-2F70-BBA2-F0DF53FC6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046" y="2683941"/>
            <a:ext cx="2781300" cy="11715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F159E7E-67E2-939F-0D5E-BEC562EE3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046" y="4061983"/>
            <a:ext cx="2781300" cy="1171575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9F83042-AB2B-D676-F90B-F958D1A6CA3D}"/>
              </a:ext>
            </a:extLst>
          </p:cNvPr>
          <p:cNvCxnSpPr>
            <a:cxnSpLocks/>
            <a:stCxn id="6" idx="1"/>
          </p:cNvCxnSpPr>
          <p:nvPr/>
        </p:nvCxnSpPr>
        <p:spPr bwMode="auto">
          <a:xfrm flipH="1">
            <a:off x="3717790" y="3269729"/>
            <a:ext cx="2304256" cy="889933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5D6A70A-C74D-D7EC-6F95-BDDF286AD854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flipH="1" flipV="1">
            <a:off x="3703722" y="4640358"/>
            <a:ext cx="2318324" cy="7413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4995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Com a “Tela” construída é o momento de implementar a funcionalidade do botão. Para isso vamos adicionar um evento de ação clicando com o botão direito do mouse sobre o “</a:t>
            </a:r>
            <a:r>
              <a:rPr kumimoji="1" lang="pt-BR" altLang="pt-BR" sz="1600" dirty="0" err="1">
                <a:solidFill>
                  <a:schemeClr val="tx1"/>
                </a:solidFill>
                <a:cs typeface="+mn-cs"/>
              </a:rPr>
              <a:t>btnNomeRg</a:t>
            </a: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” e selecionando a opção de acordo com a imagem abaixo.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96F40F5-B6DE-D925-11CD-16971B5A26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108" r="66537" b="41158"/>
          <a:stretch/>
        </p:blipFill>
        <p:spPr>
          <a:xfrm>
            <a:off x="882141" y="2504085"/>
            <a:ext cx="4296960" cy="293253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37C273C-184F-FE3B-531F-88D712D6E0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75" t="33791" r="44488" b="29370"/>
          <a:stretch/>
        </p:blipFill>
        <p:spPr>
          <a:xfrm>
            <a:off x="5665110" y="2930325"/>
            <a:ext cx="3816424" cy="1800201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19B5EB6C-272C-0718-C276-F598D3A9EB0D}"/>
              </a:ext>
            </a:extLst>
          </p:cNvPr>
          <p:cNvCxnSpPr/>
          <p:nvPr/>
        </p:nvCxnSpPr>
        <p:spPr bwMode="auto">
          <a:xfrm flipV="1">
            <a:off x="3594925" y="3650405"/>
            <a:ext cx="2448272" cy="664047"/>
          </a:xfrm>
          <a:prstGeom prst="straightConnector1">
            <a:avLst/>
          </a:prstGeom>
          <a:solidFill>
            <a:srgbClr val="00B8FF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22569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Ao selecionar a opção marcada uma janela de código irá se abrir e nela iremos implementar as funcionalidade que serão executadas quando o botão for pressionado.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3E777B-60CF-7E0C-7848-07DCB56E41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5" t="16210" r="30701" b="16006"/>
          <a:stretch/>
        </p:blipFill>
        <p:spPr>
          <a:xfrm>
            <a:off x="784440" y="2283411"/>
            <a:ext cx="5926922" cy="3170214"/>
          </a:xfrm>
          <a:prstGeom prst="rect">
            <a:avLst/>
          </a:prstGeom>
        </p:spPr>
      </p:pic>
      <p:sp>
        <p:nvSpPr>
          <p:cNvPr id="6" name="Texto Explicativo: Linha 5">
            <a:extLst>
              <a:ext uri="{FF2B5EF4-FFF2-40B4-BE49-F238E27FC236}">
                <a16:creationId xmlns:a16="http://schemas.microsoft.com/office/drawing/2014/main" id="{B8740083-A78C-D081-A964-10B791FE3D8D}"/>
              </a:ext>
            </a:extLst>
          </p:cNvPr>
          <p:cNvSpPr/>
          <p:nvPr/>
        </p:nvSpPr>
        <p:spPr bwMode="auto">
          <a:xfrm>
            <a:off x="7417788" y="1716212"/>
            <a:ext cx="1584176" cy="720080"/>
          </a:xfrm>
          <a:prstGeom prst="borderCallout1">
            <a:avLst>
              <a:gd name="adj1" fmla="val 18750"/>
              <a:gd name="adj2" fmla="val -8333"/>
              <a:gd name="adj3" fmla="val 85005"/>
              <a:gd name="adj4" fmla="val -386333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Janela de código Fonte</a:t>
            </a: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o Explicativo: Linha 8">
            <a:extLst>
              <a:ext uri="{FF2B5EF4-FFF2-40B4-BE49-F238E27FC236}">
                <a16:creationId xmlns:a16="http://schemas.microsoft.com/office/drawing/2014/main" id="{429B9C79-CB48-0C13-0CE4-0B5F99D5E771}"/>
              </a:ext>
            </a:extLst>
          </p:cNvPr>
          <p:cNvSpPr/>
          <p:nvPr/>
        </p:nvSpPr>
        <p:spPr bwMode="auto">
          <a:xfrm>
            <a:off x="7417788" y="2639542"/>
            <a:ext cx="1584176" cy="720080"/>
          </a:xfrm>
          <a:prstGeom prst="borderCallout1">
            <a:avLst>
              <a:gd name="adj1" fmla="val 18750"/>
              <a:gd name="adj2" fmla="val -8333"/>
              <a:gd name="adj3" fmla="val 83964"/>
              <a:gd name="adj4" fmla="val -231032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Botão e Evento selecionado</a:t>
            </a: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o Explicativo: Linha 9">
            <a:extLst>
              <a:ext uri="{FF2B5EF4-FFF2-40B4-BE49-F238E27FC236}">
                <a16:creationId xmlns:a16="http://schemas.microsoft.com/office/drawing/2014/main" id="{0082A062-416E-C7FA-2F45-CFB39C7C48C2}"/>
              </a:ext>
            </a:extLst>
          </p:cNvPr>
          <p:cNvSpPr/>
          <p:nvPr/>
        </p:nvSpPr>
        <p:spPr bwMode="auto">
          <a:xfrm>
            <a:off x="7417788" y="3527523"/>
            <a:ext cx="1584176" cy="720080"/>
          </a:xfrm>
          <a:prstGeom prst="borderCallout1">
            <a:avLst>
              <a:gd name="adj1" fmla="val 18750"/>
              <a:gd name="adj2" fmla="val -8333"/>
              <a:gd name="adj3" fmla="val -7328"/>
              <a:gd name="adj4" fmla="val -341292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Área de código</a:t>
            </a: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649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B13B7-3294-5BF5-E5EA-C3A19FC12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C1770-0FD1-443B-9187-7AFF907A0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591440-C717-32EB-5EFE-ED91560C3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A19913-E286-5A71-7CDA-9741218E2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C893DBE-2868-09A7-733A-D5F68A69A5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74" t="27359" r="33158" b="43429"/>
          <a:stretch/>
        </p:blipFill>
        <p:spPr>
          <a:xfrm>
            <a:off x="367258" y="2765686"/>
            <a:ext cx="8731966" cy="247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00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Agora vamos implementar o segundo botão, para isso vamos adicionar o evento necessário e colocar o código como o da imagem abaixo. Após a implementação das funcionalidades executar a classe </a:t>
            </a:r>
            <a:r>
              <a:rPr kumimoji="1" lang="pt-BR" altLang="pt-BR" sz="1600" dirty="0" err="1">
                <a:solidFill>
                  <a:schemeClr val="tx1"/>
                </a:solidFill>
                <a:cs typeface="+mn-cs"/>
              </a:rPr>
              <a:t>ClienteVIEW</a:t>
            </a: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 usando “Shift + F6”.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7D89F3-CB51-AF04-A44C-C152480DBC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50" t="41106" r="31888" b="26283"/>
          <a:stretch/>
        </p:blipFill>
        <p:spPr>
          <a:xfrm>
            <a:off x="1042287" y="2620663"/>
            <a:ext cx="8123726" cy="238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3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2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Após a implementação das funcionalidades executar a classe </a:t>
            </a:r>
            <a:r>
              <a:rPr kumimoji="1" lang="pt-BR" altLang="pt-BR" sz="1600" dirty="0" err="1">
                <a:solidFill>
                  <a:schemeClr val="tx1"/>
                </a:solidFill>
                <a:cs typeface="+mn-cs"/>
              </a:rPr>
              <a:t>ClienteVIEW</a:t>
            </a: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 usando “Shift + F6”. O resultado é o formulário da imagem abaixo. Digite as informações e clique nos botões para testar.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D702968-F15C-68D0-D390-1A8527A04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50" y="2533595"/>
            <a:ext cx="3895725" cy="28289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C1BE097-FE8A-F42C-0FD1-FAD6CBB67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314" y="2507918"/>
            <a:ext cx="2752725" cy="13906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78EE63B-887B-F838-D0D0-323226EE7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314" y="3996859"/>
            <a:ext cx="2752724" cy="146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49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3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Desenvolver um sistema que possibilite digitar a idade de um motorista e verifique se o mesmo pode ou não ter CNH. Deve ser utilizado os conceitos de MVC.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4955DA-7BDA-98D5-4BD7-D92490198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200" y="2686710"/>
            <a:ext cx="37719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70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Exercício 4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Desenvolva um sistema que receba três números obrigatoriamente em ordem crescente (do menor para o maior) e um quarto número (número qualquer) que não siga a regra dos três primeiros. Ao final o algoritmo deve imprimir os quatro números em ordem decrescente (do maior para o menor). Os números devem ser do tipo inteiro e deve ser utilizado os conceitos de MVC.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0C8C56C-D01C-1305-2217-B0BA2B50A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750" y="2972076"/>
            <a:ext cx="411480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65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61CC0-FAD4-FE46-5216-1BDA2F92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Projetos em Java com SWING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FF9C8-3E09-91D0-6D56-C354EE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58" y="1094282"/>
            <a:ext cx="9473785" cy="4269718"/>
          </a:xfrm>
        </p:spPr>
        <p:txBody>
          <a:bodyPr>
            <a:normAutofit/>
          </a:bodyPr>
          <a:lstStyle/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b="1" dirty="0">
                <a:solidFill>
                  <a:srgbClr val="C00000"/>
                </a:solidFill>
                <a:cs typeface="+mn-cs"/>
              </a:rPr>
              <a:t>Criando Formulário Simples - </a:t>
            </a:r>
            <a:r>
              <a:rPr kumimoji="1" lang="pt-BR" altLang="pt-BR" b="1">
                <a:solidFill>
                  <a:srgbClr val="C00000"/>
                </a:solidFill>
                <a:cs typeface="+mn-cs"/>
              </a:rPr>
              <a:t>Exercício 5</a:t>
            </a:r>
            <a:endParaRPr kumimoji="1" lang="pt-BR" altLang="pt-BR" sz="2000" b="1" dirty="0">
              <a:solidFill>
                <a:srgbClr val="C00000"/>
              </a:solidFill>
              <a:cs typeface="+mn-cs"/>
            </a:endParaRPr>
          </a:p>
          <a:p>
            <a:pPr marL="342900" indent="-342900" algn="just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1" lang="pt-BR" altLang="pt-BR" sz="2000" dirty="0">
              <a:cs typeface="+mn-cs"/>
            </a:endParaRPr>
          </a:p>
          <a:p>
            <a:pPr marL="800100" lvl="1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Você foi contratado para desenvolver um módulo de um sistema para trabalhar com os dados de Funcionário. Após análise de requisitos do sistema verificou-se que os dados necessários são: (Tipo texto: nome, logradouro, bairro, cidade, estado, cep, </a:t>
            </a:r>
            <a:r>
              <a:rPr kumimoji="1" lang="pt-BR" altLang="pt-BR" sz="1600" dirty="0" err="1">
                <a:solidFill>
                  <a:schemeClr val="tx1"/>
                </a:solidFill>
                <a:cs typeface="+mn-cs"/>
              </a:rPr>
              <a:t>cpf</a:t>
            </a: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 e </a:t>
            </a:r>
            <a:r>
              <a:rPr kumimoji="1" lang="pt-BR" altLang="pt-BR" sz="1600" dirty="0" err="1">
                <a:solidFill>
                  <a:schemeClr val="tx1"/>
                </a:solidFill>
                <a:cs typeface="+mn-cs"/>
              </a:rPr>
              <a:t>rg</a:t>
            </a:r>
            <a:r>
              <a:rPr kumimoji="1" lang="pt-BR" altLang="pt-BR" sz="1600" dirty="0">
                <a:solidFill>
                  <a:schemeClr val="tx1"/>
                </a:solidFill>
                <a:cs typeface="+mn-cs"/>
              </a:rPr>
              <a:t>), (Tipo numérico: numero). Na classe dão deve ser construído um método que receberá todas as informações, montará uma mensagem que deverá ser devolvida para a classe VIEW para ser mostrada na tela por uma caixa de mensagem. A classe VIEW também deve possuir um botão para limpar os campos. Você construir esse módulo utilizando os conceitos de MVC.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554B2-E80B-936F-139E-6C9898AB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6BAE1A-4461-46DC-F5EC-6D483C4C8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699" y="3396709"/>
            <a:ext cx="2191326" cy="201198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3006C74-393F-ED0E-2014-6564CCD59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714" y="3425597"/>
            <a:ext cx="1750299" cy="190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81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 - BSI.pptx" id="{B907AC66-3A62-4EC3-A310-0BD5C2C3E48D}" vid="{A17992B3-BE86-431D-8A47-F531FD07B2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 - BSI.pptx" id="{B907AC66-3A62-4EC3-A310-0BD5C2C3E48D}" vid="{C5C50959-7BF9-4F18-A104-F0209CAC638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- Pos</Template>
  <TotalTime>644</TotalTime>
  <Words>1145</Words>
  <Application>Microsoft Office PowerPoint</Application>
  <PresentationFormat>Personalizar</PresentationFormat>
  <Paragraphs>103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Times New Roman</vt:lpstr>
      <vt:lpstr>Office Theme</vt:lpstr>
      <vt:lpstr>Office Theme</vt:lpstr>
      <vt:lpstr>Bacharel em Sistemas de Informação  Linguagem de Programação 1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  <vt:lpstr>5. Projetos em Java com SWING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Técnico em Informática Integrado ao Ensino Médio  Linguagem de Programação 1</dc:title>
  <dc:creator>André Luis Gobbi</dc:creator>
  <cp:lastModifiedBy>Office</cp:lastModifiedBy>
  <cp:revision>84</cp:revision>
  <cp:lastPrinted>2023-08-16T12:38:54Z</cp:lastPrinted>
  <dcterms:created xsi:type="dcterms:W3CDTF">2023-06-21T20:40:29Z</dcterms:created>
  <dcterms:modified xsi:type="dcterms:W3CDTF">2025-02-05T11:40:47Z</dcterms:modified>
</cp:coreProperties>
</file>